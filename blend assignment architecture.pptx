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936357a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936357a9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10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87019"/>
            <a:ext cx="110299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2170807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 &amp; DESIGN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2566987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Blend360</a:t>
            </a: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Assistant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511748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Autonomous Multi-Agent System for Scalable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71625"/>
            <a:ext cx="5229225" cy="489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71625"/>
            <a:ext cx="522922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71550" y="296227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1550" y="3667125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Retail datasets are massive (100GB+) and complex. Executives need instant answers without writing SQL. Traditional chatbots hallucinate on math and cannot handle large-scale aggregations.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280987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514725"/>
            <a:ext cx="44481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 autonomous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Agentic RAG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system. We separate the "Brain" (LLM) from the "Memory" (Database). Using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for storage and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LangGraph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for reasoning, we deliver accurate, hallucination-free insights.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9908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8384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98514"/>
            <a:ext cx="3486150" cy="324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98514"/>
            <a:ext cx="3486150" cy="324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98514"/>
            <a:ext cx="3486150" cy="3242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100" y="26937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849040" y="3646289"/>
            <a:ext cx="9501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4217789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Streamlit UI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provides a chat interface and an "Ingestion Wizard" for uploading CSVs and defining metadata context.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6937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365908" y="3646289"/>
            <a:ext cx="14601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Orchestration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8200" y="4217789"/>
            <a:ext cx="28956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FastAPI + LangGraph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. The API handles state, while the graph manages the cyclic agent workflow (Generate -&gt; Execute -&gt; Validate).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86900" y="26937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272825" y="3646289"/>
            <a:ext cx="119014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Layer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0100" y="4217789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stores the 100GB+ sales data. </a:t>
            </a:r>
            <a:r>
              <a:rPr b="1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FAISS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stores vector embeddings of </a:t>
            </a:r>
            <a:r>
              <a:rPr b="0" i="1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past queries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(RAG) to guide the LLM.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09787" y="288428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0" y="28842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01212" y="288428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76300" y="4217789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3905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1085850"/>
            <a:ext cx="11030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4">
            <a:alphaModFix/>
          </a:blip>
          <a:srcRect b="1587" l="0" r="0" t="1587"/>
          <a:stretch/>
        </p:blipFill>
        <p:spPr>
          <a:xfrm>
            <a:off x="2117960" y="1140083"/>
            <a:ext cx="7956076" cy="5627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871537"/>
            <a:ext cx="504063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Scaling to 100GB+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1566862"/>
            <a:ext cx="48006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9525"/>
            <a:ext cx="27146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62025" y="1919275"/>
            <a:ext cx="63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 In-Memory Loading: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We strictly avoid loading CSVs into Pandas. We use SQL for all aggregations, leveraging the database engine's optimization.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3071800"/>
            <a:ext cx="6484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Partitioning &amp; Indexing: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Postgres schema uses indices on `region`, `date`, and `product_id` to ensure sub-second query times even on billion-row tables.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4529125"/>
            <a:ext cx="715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Recursive Summarization: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For result sets &gt;1000 rows, we don't stuff the context window. We use a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Map-Reduce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pattern to summarize chunks in parallel.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38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5481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81025" y="5463480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Built using LangGraph StateGraph with Conditional Edges</a:t>
            </a:r>
            <a:endParaRPr/>
          </a:p>
        </p:txBody>
      </p:sp>
      <p:grpSp>
        <p:nvGrpSpPr>
          <p:cNvPr id="155" name="Google Shape;155;p18"/>
          <p:cNvGrpSpPr/>
          <p:nvPr/>
        </p:nvGrpSpPr>
        <p:grpSpPr>
          <a:xfrm>
            <a:off x="84725" y="2179449"/>
            <a:ext cx="2965630" cy="2550600"/>
            <a:chOff x="581025" y="2179449"/>
            <a:chExt cx="2965630" cy="2550600"/>
          </a:xfrm>
        </p:grpSpPr>
        <p:pic>
          <p:nvPicPr>
            <p:cNvPr descr="image.png" id="156" name="Google Shape;15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2179449"/>
              <a:ext cx="2965630" cy="255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8"/>
            <p:cNvSpPr txBox="1"/>
            <p:nvPr/>
          </p:nvSpPr>
          <p:spPr>
            <a:xfrm>
              <a:off x="1053736" y="3424352"/>
              <a:ext cx="202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1. Resolution Agent</a:t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616038" y="3889177"/>
              <a:ext cx="28956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Receives user query. Retrieves "Golden SQL" examples from FAISS. Generates the SQL query based on the schema.</a:t>
              </a:r>
              <a:endParaRPr/>
            </a:p>
          </p:txBody>
        </p:sp>
        <p:grpSp>
          <p:nvGrpSpPr>
            <p:cNvPr id="159" name="Google Shape;159;p18"/>
            <p:cNvGrpSpPr/>
            <p:nvPr/>
          </p:nvGrpSpPr>
          <p:grpSpPr>
            <a:xfrm>
              <a:off x="1682850" y="2474714"/>
              <a:ext cx="762000" cy="762000"/>
              <a:chOff x="1943100" y="2474714"/>
              <a:chExt cx="762000" cy="762000"/>
            </a:xfrm>
          </p:grpSpPr>
          <p:pic>
            <p:nvPicPr>
              <p:cNvPr descr="image.png" id="160" name="Google Shape;160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943100" y="2474714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.png" id="161" name="Google Shape;161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133600" y="266521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2" name="Google Shape;162;p18"/>
          <p:cNvGrpSpPr/>
          <p:nvPr/>
        </p:nvGrpSpPr>
        <p:grpSpPr>
          <a:xfrm>
            <a:off x="3160634" y="2209573"/>
            <a:ext cx="2930613" cy="2490371"/>
            <a:chOff x="4352925" y="2179448"/>
            <a:chExt cx="2930613" cy="2490371"/>
          </a:xfrm>
        </p:grpSpPr>
        <p:pic>
          <p:nvPicPr>
            <p:cNvPr descr="image.png" id="163" name="Google Shape;16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52925" y="2179448"/>
              <a:ext cx="2895600" cy="2490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8"/>
            <p:cNvSpPr txBox="1"/>
            <p:nvPr/>
          </p:nvSpPr>
          <p:spPr>
            <a:xfrm>
              <a:off x="4760625" y="3424400"/>
              <a:ext cx="2080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2. Extraction Agent</a:t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387938" y="3856908"/>
              <a:ext cx="28956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Executes the SQL against Postgres. Handles database connection errors but </a:t>
              </a:r>
              <a:r>
                <a:rPr b="0" i="1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does not</a:t>
              </a:r>
              <a:r>
                <a:rPr b="0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 interpret the data yet.</a:t>
              </a:r>
              <a:endParaRPr/>
            </a:p>
          </p:txBody>
        </p:sp>
        <p:grpSp>
          <p:nvGrpSpPr>
            <p:cNvPr id="166" name="Google Shape;166;p18"/>
            <p:cNvGrpSpPr/>
            <p:nvPr/>
          </p:nvGrpSpPr>
          <p:grpSpPr>
            <a:xfrm>
              <a:off x="5419725" y="2474714"/>
              <a:ext cx="762000" cy="762000"/>
              <a:chOff x="5715000" y="2474714"/>
              <a:chExt cx="762000" cy="762000"/>
            </a:xfrm>
          </p:grpSpPr>
          <p:pic>
            <p:nvPicPr>
              <p:cNvPr descr="image.png" id="167" name="Google Shape;167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715000" y="2474714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" name="Google Shape;168;p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79513" y="2665214"/>
                <a:ext cx="432973" cy="3811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9" name="Google Shape;169;p18"/>
          <p:cNvGrpSpPr/>
          <p:nvPr/>
        </p:nvGrpSpPr>
        <p:grpSpPr>
          <a:xfrm>
            <a:off x="6166773" y="2228123"/>
            <a:ext cx="2895600" cy="2453250"/>
            <a:chOff x="7226950" y="2202373"/>
            <a:chExt cx="2895600" cy="2453250"/>
          </a:xfrm>
        </p:grpSpPr>
        <p:pic>
          <p:nvPicPr>
            <p:cNvPr descr="image.png" id="170" name="Google Shape;170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48525" y="2202373"/>
              <a:ext cx="2852440" cy="245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8"/>
            <p:cNvSpPr txBox="1"/>
            <p:nvPr/>
          </p:nvSpPr>
          <p:spPr>
            <a:xfrm>
              <a:off x="7226950" y="3804514"/>
              <a:ext cx="28956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Checks if data is empty or if SQL failed. If invalid, it </a:t>
              </a:r>
              <a:r>
                <a:rPr b="1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loops back</a:t>
              </a:r>
              <a:r>
                <a:rPr b="0" i="0" lang="en-US" sz="1200" u="none" cap="none" strike="noStrike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 to Agent 1 with the error message for self-correction.</a:t>
              </a:r>
              <a:endParaRPr/>
            </a:p>
          </p:txBody>
        </p:sp>
        <p:grpSp>
          <p:nvGrpSpPr>
            <p:cNvPr id="172" name="Google Shape;172;p18"/>
            <p:cNvGrpSpPr/>
            <p:nvPr/>
          </p:nvGrpSpPr>
          <p:grpSpPr>
            <a:xfrm>
              <a:off x="7634645" y="2474714"/>
              <a:ext cx="2080200" cy="1229700"/>
              <a:chOff x="8827770" y="2474714"/>
              <a:chExt cx="2080200" cy="1229700"/>
            </a:xfrm>
          </p:grpSpPr>
          <p:sp>
            <p:nvSpPr>
              <p:cNvPr id="173" name="Google Shape;173;p18"/>
              <p:cNvSpPr txBox="1"/>
              <p:nvPr/>
            </p:nvSpPr>
            <p:spPr>
              <a:xfrm>
                <a:off x="8827770" y="3427214"/>
                <a:ext cx="2080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3. Validation Agent</a:t>
                </a:r>
                <a:endParaRPr/>
              </a:p>
            </p:txBody>
          </p:sp>
          <p:grpSp>
            <p:nvGrpSpPr>
              <p:cNvPr id="174" name="Google Shape;174;p18"/>
              <p:cNvGrpSpPr/>
              <p:nvPr/>
            </p:nvGrpSpPr>
            <p:grpSpPr>
              <a:xfrm>
                <a:off x="9486900" y="2474714"/>
                <a:ext cx="762000" cy="762000"/>
                <a:chOff x="9486900" y="2474714"/>
                <a:chExt cx="762000" cy="762000"/>
              </a:xfrm>
            </p:grpSpPr>
            <p:pic>
              <p:nvPicPr>
                <p:cNvPr descr="image.png" id="175" name="Google Shape;175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9486900" y="2474714"/>
                  <a:ext cx="762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.png" id="176" name="Google Shape;176;p1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9629775" y="2665214"/>
                  <a:ext cx="476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177" name="Google Shape;177;p18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Agentic Graph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9148800" y="2228123"/>
            <a:ext cx="2874018" cy="2453250"/>
            <a:chOff x="7226947" y="2202373"/>
            <a:chExt cx="2874018" cy="2453250"/>
          </a:xfrm>
        </p:grpSpPr>
        <p:pic>
          <p:nvPicPr>
            <p:cNvPr descr="image.png" id="180" name="Google Shape;180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48525" y="2202373"/>
              <a:ext cx="2852440" cy="245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8"/>
            <p:cNvSpPr txBox="1"/>
            <p:nvPr/>
          </p:nvSpPr>
          <p:spPr>
            <a:xfrm>
              <a:off x="7226947" y="3818324"/>
              <a:ext cx="2852400" cy="7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AAAAAA"/>
                  </a:solidFill>
                  <a:latin typeface="Urbanist"/>
                  <a:ea typeface="Urbanist"/>
                  <a:cs typeface="Urbanist"/>
                  <a:sym typeface="Urbanist"/>
                </a:rPr>
                <a:t>Break data into chunks, summarize them in parallel, and combine the outputs into one coherent summary.</a:t>
              </a:r>
              <a:endParaRPr/>
            </a:p>
          </p:txBody>
        </p:sp>
        <p:grpSp>
          <p:nvGrpSpPr>
            <p:cNvPr id="182" name="Google Shape;182;p18"/>
            <p:cNvGrpSpPr/>
            <p:nvPr/>
          </p:nvGrpSpPr>
          <p:grpSpPr>
            <a:xfrm>
              <a:off x="7313847" y="2474714"/>
              <a:ext cx="2718900" cy="1229711"/>
              <a:chOff x="8506972" y="2474714"/>
              <a:chExt cx="2718900" cy="1229711"/>
            </a:xfrm>
          </p:grpSpPr>
          <p:sp>
            <p:nvSpPr>
              <p:cNvPr id="183" name="Google Shape;183;p18"/>
              <p:cNvSpPr txBox="1"/>
              <p:nvPr/>
            </p:nvSpPr>
            <p:spPr>
              <a:xfrm>
                <a:off x="8506972" y="3427225"/>
                <a:ext cx="2718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4</a:t>
                </a: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. </a:t>
                </a:r>
                <a:r>
                  <a:rPr b="1" lang="en-US" sz="18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Summarisation</a:t>
                </a:r>
                <a:r>
                  <a:rPr b="1" i="0" lang="en-US" sz="18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Agent</a:t>
                </a:r>
                <a:endParaRPr/>
              </a:p>
            </p:txBody>
          </p:sp>
          <p:grpSp>
            <p:nvGrpSpPr>
              <p:cNvPr id="184" name="Google Shape;184;p18"/>
              <p:cNvGrpSpPr/>
              <p:nvPr/>
            </p:nvGrpSpPr>
            <p:grpSpPr>
              <a:xfrm>
                <a:off x="9486900" y="2474714"/>
                <a:ext cx="762000" cy="762000"/>
                <a:chOff x="9486900" y="2474714"/>
                <a:chExt cx="762000" cy="762000"/>
              </a:xfrm>
            </p:grpSpPr>
            <p:pic>
              <p:nvPicPr>
                <p:cNvPr descr="image.png" id="185" name="Google Shape;185;p1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9486900" y="2474714"/>
                  <a:ext cx="762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.png" id="186" name="Google Shape;186;p1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9629775" y="2665214"/>
                  <a:ext cx="4762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RAG for Accuracy (Few-Shot)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image.png" id="194" name="Google Shape;19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9"/>
            <p:cNvSpPr txBox="1"/>
            <p:nvPr/>
          </p:nvSpPr>
          <p:spPr>
            <a:xfrm>
              <a:off x="6381750" y="1890712"/>
              <a:ext cx="54906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4" u="none" cap="none" strike="noStrike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Context, Not Content</a:t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6381750" y="2300287"/>
              <a:ext cx="5229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We do NOT store the 100GB sales data in the Vector DB. Vector search is poor at aggregation (math).</a:t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6381750" y="3281362"/>
              <a:ext cx="54906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4" u="none" cap="none" strike="noStrike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What we store in FAISS:</a:t>
              </a: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6381750" y="5348287"/>
              <a:ext cx="5229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This retrieves the </a:t>
              </a:r>
              <a:r>
                <a:rPr b="0" i="1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logic</a:t>
              </a: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 needed to solve the problem, then applies it to the </a:t>
              </a:r>
              <a:r>
                <a:rPr b="0" i="1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raw data</a:t>
              </a: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 in Postgres.</a:t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6762750" y="3652837"/>
              <a:ext cx="4848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Golden SQL Examples:</a:t>
              </a: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 "How to calculate YoY growth" (Complex SQL logic).</a:t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6762750" y="4500562"/>
              <a:ext cx="4848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Schema Metadata:</a:t>
              </a:r>
              <a:r>
                <a:rPr b="0" i="0" lang="en-US" sz="1500" u="none" cap="none" strike="noStrike">
                  <a:solidFill>
                    <a:srgbClr val="CCCCCC"/>
                  </a:solidFill>
                  <a:latin typeface="Urbanist"/>
                  <a:ea typeface="Urbanist"/>
                  <a:cs typeface="Urbanist"/>
                  <a:sym typeface="Urbanist"/>
                </a:rPr>
                <a:t> Descriptions of ambiguous columns (e.g., "amt_1" = "Q1 Revenue").</a:t>
              </a:r>
              <a:endParaRPr/>
            </a:p>
          </p:txBody>
        </p:sp>
        <p:pic>
          <p:nvPicPr>
            <p:cNvPr descr="image.png" id="201" name="Google Shape;20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1750" y="3671887"/>
              <a:ext cx="22860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2" name="Google Shape;20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1750" y="4519612"/>
              <a:ext cx="228600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19"/>
          <p:cNvSpPr txBox="1"/>
          <p:nvPr/>
        </p:nvSpPr>
        <p:spPr>
          <a:xfrm>
            <a:off x="581025" y="3905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Rag For Accuracy (Few-Shot)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81025" y="1085850"/>
            <a:ext cx="11030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71625"/>
            <a:ext cx="5229225" cy="489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71625"/>
            <a:ext cx="522922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971550" y="311467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71550" y="3819525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query like "List all transactions in the West region" might return 5,000 rows. Passing this to GPT-4o is expensive and exceeds context limits.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772275" y="261461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Map-Reduce Solution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772275" y="3319462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Step 1 (Map):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Split data into chunks of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00 rows. Use ThreadPoolExecutor to summarize all chunks in parallel.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772275" y="4624387"/>
            <a:ext cx="4448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Step 2 (Reduce):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Feed the 5 mini-summaries into a final prompt to synthesize a cohesive answer.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Handling Large Results (Map-Reduce)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955" y="3924300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1885" y="3924300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816" y="3924300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3746" y="3924300"/>
            <a:ext cx="3810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9677" y="3924300"/>
            <a:ext cx="381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581025" y="4010025"/>
            <a:ext cx="11029950" cy="1905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501205" y="3924300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707135" y="3924300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913066" y="3924300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118996" y="3924300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1324927" y="3924300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596330" y="43053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User Query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643955" y="4648200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"Sales trend in North?"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3802260" y="3044279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RAG Retrieval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3849885" y="3387179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Fetch schema &amp; similar SQL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008191" y="43053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SQL Generation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055816" y="4648200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Agent 1 writes SELECT...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214121" y="3044279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Execution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261746" y="3387179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Agent 2 queries Postgres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0558016" y="4305300"/>
            <a:ext cx="172432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Summarization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558016" y="4648200"/>
            <a:ext cx="172432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Agent 4 describes data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Query Pipeline Trace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962025" y="320992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Streaming Responses: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 Server-Sent Events (SSE) in FastAPI to stream tokens to the UI.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62025" y="405765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 Feedback Loop: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Allow users to "Thumbs Down" answers, which automatically saves the failed query for fine-tuning.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762750" y="305752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Dynamic Visualization: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Agent that generates Python Plotly code to render interactive charts in Streamlit.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762750" y="39052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RBAC Security: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 Row-Level Security in Postgres to ensure users only see their region's data.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81025" y="3905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81025" y="10858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28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76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076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243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962025" y="2276363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Model Garden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 garden to give more 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feasibility</a:t>
            </a:r>
            <a:r>
              <a:rPr lang="en-US" sz="15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user to select model as per use case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541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581025" y="2870894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